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Lato" panose="020F0502020204030203" pitchFamily="34" charset="0"/>
      <p:regular r:id="rId12"/>
      <p:bold r:id="rId13"/>
    </p:embeddedFont>
    <p:embeddedFont>
      <p:font typeface="Lato Bold" panose="020F0502020204030203" charset="0"/>
      <p:regular r:id="rId14"/>
    </p:embeddedFont>
    <p:embeddedFont>
      <p:font typeface="Lato Light" panose="020F0502020204030203" pitchFamily="3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734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61182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ElectroHub Retail Sales &amp; Profitability Analytics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90274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Business Intelligence Solution for Sales, Profitability &amp; Regional Performance Analysis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515841"/>
            <a:ext cx="714152" cy="266402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558332"/>
            <a:ext cx="100124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BI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281113" y="3515841"/>
            <a:ext cx="815578" cy="266402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sp>
        <p:nvSpPr>
          <p:cNvPr id="8" name="Text 5"/>
          <p:cNvSpPr/>
          <p:nvPr/>
        </p:nvSpPr>
        <p:spPr>
          <a:xfrm>
            <a:off x="1366168" y="3558332"/>
            <a:ext cx="110266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 SERVER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167533" y="3515841"/>
            <a:ext cx="989335" cy="266402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sp>
        <p:nvSpPr>
          <p:cNvPr id="10" name="Text 7"/>
          <p:cNvSpPr/>
          <p:nvPr/>
        </p:nvSpPr>
        <p:spPr>
          <a:xfrm>
            <a:off x="2252588" y="3558332"/>
            <a:ext cx="127642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QUERY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27710" y="3515841"/>
            <a:ext cx="403027" cy="266402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sp>
        <p:nvSpPr>
          <p:cNvPr id="12" name="Text 9"/>
          <p:cNvSpPr/>
          <p:nvPr/>
        </p:nvSpPr>
        <p:spPr>
          <a:xfrm>
            <a:off x="3312765" y="3558332"/>
            <a:ext cx="69011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DAX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74005"/>
            <a:ext cx="653638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Business Overview &amp; Problem Statement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2" y="1116285"/>
            <a:ext cx="5225430" cy="29610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9502" y="1297632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About ElectroHub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19502" y="1629891"/>
            <a:ext cx="2664023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multi category retailer spanning </a:t>
            </a:r>
            <a:r>
              <a:rPr lang="en-US" sz="10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 product lines</a:t>
            </a: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Electronics, Clothing, Footwear, Home Appliances, Accessories, Kitchenware, Bags, and Personal Care.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19502" y="2578373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Business Challenges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19502" y="2926184"/>
            <a:ext cx="2664023" cy="954212"/>
          </a:xfrm>
          <a:prstGeom prst="roundRect">
            <a:avLst>
              <a:gd name="adj" fmla="val 2089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406" y="3128367"/>
            <a:ext cx="166092" cy="132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51402" y="3083942"/>
            <a:ext cx="2099221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Expected Outcome:</a:t>
            </a:r>
            <a:r>
              <a:rPr lang="en-US" sz="10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Centralized BI dashboard enabling data driven decision-making.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945" y="4364087"/>
            <a:ext cx="199355" cy="1993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7062" y="4357539"/>
            <a:ext cx="22021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centralized reporting across categories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4729" y="4364087"/>
            <a:ext cx="199355" cy="1993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86845" y="4357539"/>
            <a:ext cx="22021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Limited visibility into sales &amp; profitability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4512" y="4364087"/>
            <a:ext cx="199355" cy="19935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476628" y="4357539"/>
            <a:ext cx="22021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discount impact or regional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21171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Workflow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840284"/>
            <a:ext cx="809930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 to end pipeline from raw CSV sources to production grade business insights, validated through a structured test to production deployment.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50912" y="1095375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50912" y="1269281"/>
            <a:ext cx="3777779" cy="14288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6" name="Text 4"/>
          <p:cNvSpPr/>
          <p:nvPr/>
        </p:nvSpPr>
        <p:spPr>
          <a:xfrm>
            <a:off x="750912" y="135322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CSV Data Sources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15160" y="1095375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15160" y="1269281"/>
            <a:ext cx="3777853" cy="14288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9" name="Text 7"/>
          <p:cNvSpPr/>
          <p:nvPr/>
        </p:nvSpPr>
        <p:spPr>
          <a:xfrm>
            <a:off x="4615160" y="135322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0912" y="1695748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50912" y="1869653"/>
            <a:ext cx="3777779" cy="14288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2" name="Text 10"/>
          <p:cNvSpPr/>
          <p:nvPr/>
        </p:nvSpPr>
        <p:spPr>
          <a:xfrm>
            <a:off x="750912" y="1953592"/>
            <a:ext cx="272988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ElectroHub_Test Environment (300 Records)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15160" y="1695748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5160" y="1869653"/>
            <a:ext cx="3777853" cy="14288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5" name="Text 13"/>
          <p:cNvSpPr/>
          <p:nvPr/>
        </p:nvSpPr>
        <p:spPr>
          <a:xfrm>
            <a:off x="4615160" y="1953592"/>
            <a:ext cx="1868388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Power Query Transformations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0912" y="2296120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50912" y="2470026"/>
            <a:ext cx="3777779" cy="14288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8" name="Text 16"/>
          <p:cNvSpPr/>
          <p:nvPr/>
        </p:nvSpPr>
        <p:spPr>
          <a:xfrm>
            <a:off x="750912" y="2553965"/>
            <a:ext cx="1517898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Star Schema Data Model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15160" y="2296120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15160" y="2470026"/>
            <a:ext cx="3777853" cy="14288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1" name="Text 19"/>
          <p:cNvSpPr/>
          <p:nvPr/>
        </p:nvSpPr>
        <p:spPr>
          <a:xfrm>
            <a:off x="4615160" y="2553965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DAX Measures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0912" y="2896493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07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50912" y="3070399"/>
            <a:ext cx="3777779" cy="14288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4" name="Text 22"/>
          <p:cNvSpPr/>
          <p:nvPr/>
        </p:nvSpPr>
        <p:spPr>
          <a:xfrm>
            <a:off x="750912" y="3154338"/>
            <a:ext cx="154438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Dashboard Development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5160" y="2896493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08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15160" y="3070399"/>
            <a:ext cx="3777853" cy="14288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7" name="Text 25"/>
          <p:cNvSpPr/>
          <p:nvPr/>
        </p:nvSpPr>
        <p:spPr>
          <a:xfrm>
            <a:off x="4615160" y="315433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Validation &amp; Testing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50912" y="3496866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09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50912" y="3670771"/>
            <a:ext cx="3777779" cy="14288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30" name="Text 28"/>
          <p:cNvSpPr/>
          <p:nvPr/>
        </p:nvSpPr>
        <p:spPr>
          <a:xfrm>
            <a:off x="750912" y="3754710"/>
            <a:ext cx="293474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ElectroHub_Prod Environment (3000+ Records)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15160" y="3496866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10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5160" y="3670771"/>
            <a:ext cx="3777853" cy="14288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33" name="Text 31"/>
          <p:cNvSpPr/>
          <p:nvPr/>
        </p:nvSpPr>
        <p:spPr>
          <a:xfrm>
            <a:off x="4615160" y="375471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Business Insights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50912" y="4163467"/>
            <a:ext cx="2475235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2850" dirty="0"/>
          </a:p>
        </p:txBody>
      </p:sp>
      <p:sp>
        <p:nvSpPr>
          <p:cNvPr id="35" name="Text 33"/>
          <p:cNvSpPr/>
          <p:nvPr/>
        </p:nvSpPr>
        <p:spPr>
          <a:xfrm>
            <a:off x="1296293" y="464924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Tables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34271" y="4163467"/>
            <a:ext cx="2475309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300+</a:t>
            </a:r>
            <a:endParaRPr lang="en-US" sz="2850" dirty="0"/>
          </a:p>
        </p:txBody>
      </p:sp>
      <p:sp>
        <p:nvSpPr>
          <p:cNvPr id="37" name="Text 35"/>
          <p:cNvSpPr/>
          <p:nvPr/>
        </p:nvSpPr>
        <p:spPr>
          <a:xfrm>
            <a:off x="3879726" y="464924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Test Records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917704" y="4163467"/>
            <a:ext cx="2475309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3000+</a:t>
            </a:r>
            <a:endParaRPr lang="en-US" sz="2850" dirty="0"/>
          </a:p>
        </p:txBody>
      </p:sp>
      <p:sp>
        <p:nvSpPr>
          <p:cNvPr id="39" name="Text 37"/>
          <p:cNvSpPr/>
          <p:nvPr/>
        </p:nvSpPr>
        <p:spPr>
          <a:xfrm>
            <a:off x="6463159" y="464924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Production Records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296242"/>
            <a:ext cx="3714676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Preparation &amp; Modeling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33029" y="2153022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Dataset Structure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33029" y="2336676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Transformations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029" y="2562374"/>
            <a:ext cx="3317304" cy="456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type validation &amp; missing value handling</a:t>
            </a:r>
            <a:endParaRPr lang="en-US" sz="75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Discount extraction &amp; merge operations</a:t>
            </a:r>
            <a:endParaRPr lang="en-US" sz="75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 sales &amp; profit calculations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98281" y="782836"/>
            <a:ext cx="182403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Star Schema Data Model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281" y="1017315"/>
            <a:ext cx="3317304" cy="33173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33029" y="4492228"/>
            <a:ext cx="1666949" cy="354955"/>
          </a:xfrm>
          <a:prstGeom prst="roundRect">
            <a:avLst>
              <a:gd name="adj" fmla="val 4212"/>
            </a:avLst>
          </a:prstGeom>
          <a:solidFill>
            <a:srgbClr val="E5DFD2"/>
          </a:solidFill>
          <a:ln/>
        </p:spPr>
      </p:sp>
      <p:sp>
        <p:nvSpPr>
          <p:cNvPr id="9" name="Text 6"/>
          <p:cNvSpPr/>
          <p:nvPr/>
        </p:nvSpPr>
        <p:spPr>
          <a:xfrm>
            <a:off x="1232669" y="4591869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Customer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70002" y="4492228"/>
            <a:ext cx="1666949" cy="354955"/>
          </a:xfrm>
          <a:prstGeom prst="roundRect">
            <a:avLst>
              <a:gd name="adj" fmla="val 4212"/>
            </a:avLst>
          </a:prstGeom>
          <a:solidFill>
            <a:srgbClr val="E5DFD2"/>
          </a:solidFill>
          <a:ln/>
        </p:spPr>
      </p:sp>
      <p:sp>
        <p:nvSpPr>
          <p:cNvPr id="11" name="Text 8"/>
          <p:cNvSpPr/>
          <p:nvPr/>
        </p:nvSpPr>
        <p:spPr>
          <a:xfrm>
            <a:off x="2969642" y="4591869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Product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06975" y="4492228"/>
            <a:ext cx="1666949" cy="354955"/>
          </a:xfrm>
          <a:prstGeom prst="roundRect">
            <a:avLst>
              <a:gd name="adj" fmla="val 4212"/>
            </a:avLst>
          </a:prstGeom>
          <a:solidFill>
            <a:srgbClr val="E5DFD2"/>
          </a:solidFill>
          <a:ln/>
        </p:spPr>
      </p:sp>
      <p:sp>
        <p:nvSpPr>
          <p:cNvPr id="13" name="Text 10"/>
          <p:cNvSpPr/>
          <p:nvPr/>
        </p:nvSpPr>
        <p:spPr>
          <a:xfrm>
            <a:off x="4706615" y="4591869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Promotion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43948" y="4492228"/>
            <a:ext cx="1666949" cy="354955"/>
          </a:xfrm>
          <a:prstGeom prst="roundRect">
            <a:avLst>
              <a:gd name="adj" fmla="val 4212"/>
            </a:avLst>
          </a:prstGeom>
          <a:solidFill>
            <a:srgbClr val="E5DFD2"/>
          </a:solidFill>
          <a:ln/>
        </p:spPr>
      </p:sp>
      <p:sp>
        <p:nvSpPr>
          <p:cNvPr id="15" name="Text 12"/>
          <p:cNvSpPr/>
          <p:nvPr/>
        </p:nvSpPr>
        <p:spPr>
          <a:xfrm>
            <a:off x="6443588" y="4591869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Sales Transactions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829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Dashboard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7480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Interactive Power BI dashboard built for real-time business performance monitoring and executive decision support.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761083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19028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Total Sales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209354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Gross revenue across all categories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761083"/>
            <a:ext cx="4005039" cy="816843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8" name="Text 6"/>
          <p:cNvSpPr/>
          <p:nvPr/>
        </p:nvSpPr>
        <p:spPr>
          <a:xfrm>
            <a:off x="4784601" y="19028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Net Sales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4601" y="2209354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Revenue after discount adjustments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719685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11" name="Text 9"/>
          <p:cNvSpPr/>
          <p:nvPr/>
        </p:nvSpPr>
        <p:spPr>
          <a:xfrm>
            <a:off x="637877" y="28614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Total Profit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7877" y="3167955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Aggregate margin after costs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2719685"/>
            <a:ext cx="4005039" cy="816843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14" name="Text 12"/>
          <p:cNvSpPr/>
          <p:nvPr/>
        </p:nvSpPr>
        <p:spPr>
          <a:xfrm>
            <a:off x="4784601" y="28614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84601" y="3167955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Transaction count across periods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678287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17" name="Text 15"/>
          <p:cNvSpPr/>
          <p:nvPr/>
        </p:nvSpPr>
        <p:spPr>
          <a:xfrm>
            <a:off x="637877" y="38200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Quantity Sold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7877" y="4126557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Units moved across all products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2842" y="3678287"/>
            <a:ext cx="4005039" cy="816843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20" name="Text 18"/>
          <p:cNvSpPr/>
          <p:nvPr/>
        </p:nvSpPr>
        <p:spPr>
          <a:xfrm>
            <a:off x="4784601" y="38200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Avg. Discount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84601" y="4126557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Promotional impact on net revenue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513234"/>
            <a:ext cx="519045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Product Performance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278954"/>
            <a:ext cx="437063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" y="1654894"/>
            <a:ext cx="3913436" cy="22221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6947" y="1292721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Product Rankings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7897" y="1665238"/>
            <a:ext cx="1907084" cy="11168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2674" y="1823814"/>
            <a:ext cx="1513731" cy="440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🏆</a:t>
            </a: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Top Product by Sales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962674" y="2402012"/>
            <a:ext cx="15137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Apple Iphone 14(21.8M)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3299" y="1665238"/>
            <a:ext cx="1907084" cy="11168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8076" y="1823814"/>
            <a:ext cx="1513731" cy="440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💰</a:t>
            </a: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Top Product by Profit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88076" y="2402012"/>
            <a:ext cx="15137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Apple Iphone 14(2.18M)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7897" y="2919413"/>
            <a:ext cx="1907084" cy="15562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2674" y="3077989"/>
            <a:ext cx="1513731" cy="440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📦</a:t>
            </a: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Highest Quantity Sold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2674" y="3656186"/>
            <a:ext cx="15137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Apple Iphone 14(281)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3299" y="2919413"/>
            <a:ext cx="1907084" cy="15562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88076" y="3077989"/>
            <a:ext cx="1513731" cy="658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📉</a:t>
            </a: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Lowest Performing Product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988076" y="3874219"/>
            <a:ext cx="151373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[Tupperware LunchBox(26k)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07256"/>
            <a:ext cx="3510781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Sales &amp; Profitability Insights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452" y="745703"/>
            <a:ext cx="6725022" cy="38835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9452" y="4704606"/>
            <a:ext cx="718222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1663"/>
            <a:ext cx="4191819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Discount &amp; Regional Insights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643" y="941487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Discount Analysis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1643" y="1234232"/>
            <a:ext cx="2649066" cy="715566"/>
          </a:xfrm>
          <a:prstGeom prst="roundRect">
            <a:avLst>
              <a:gd name="adj" fmla="val 2461"/>
            </a:avLst>
          </a:prstGeom>
          <a:solidFill>
            <a:srgbClr val="EFECE6"/>
          </a:solidFill>
          <a:ln w="14288">
            <a:solidFill>
              <a:srgbClr val="CBC5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281" y="1365870"/>
            <a:ext cx="186131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Highest Discount Promotion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3281" y="1646486"/>
            <a:ext cx="238578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Weekend Flash sale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1643" y="2046982"/>
            <a:ext cx="2649066" cy="715566"/>
          </a:xfrm>
          <a:prstGeom prst="roundRect">
            <a:avLst>
              <a:gd name="adj" fmla="val 2461"/>
            </a:avLst>
          </a:prstGeom>
          <a:solidFill>
            <a:srgbClr val="EFECE6"/>
          </a:solidFill>
          <a:ln w="14288">
            <a:solidFill>
              <a:srgbClr val="CBC5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281" y="2178621"/>
            <a:ext cx="1495574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Average Discount Rate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3281" y="2459236"/>
            <a:ext cx="238578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643" y="2871862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Regional Performance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643" y="3164607"/>
            <a:ext cx="2649066" cy="720328"/>
          </a:xfrm>
          <a:prstGeom prst="roundRect">
            <a:avLst>
              <a:gd name="adj" fmla="val 2445"/>
            </a:avLst>
          </a:prstGeom>
          <a:solidFill>
            <a:srgbClr val="EFECE6"/>
          </a:solidFill>
          <a:ln w="14288">
            <a:solidFill>
              <a:srgbClr val="CBC5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281" y="3296245"/>
            <a:ext cx="1524372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🥇</a:t>
            </a:r>
            <a:r>
              <a:rPr lang="en-US" sz="1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Top Performing City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3281" y="3581623"/>
            <a:ext cx="238578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Bangalore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643" y="3982120"/>
            <a:ext cx="2649066" cy="720328"/>
          </a:xfrm>
          <a:prstGeom prst="roundRect">
            <a:avLst>
              <a:gd name="adj" fmla="val 2445"/>
            </a:avLst>
          </a:prstGeom>
          <a:solidFill>
            <a:srgbClr val="EFECE6"/>
          </a:solidFill>
          <a:ln w="14288">
            <a:solidFill>
              <a:srgbClr val="CBC5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281" y="4113758"/>
            <a:ext cx="1757437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📍</a:t>
            </a:r>
            <a:r>
              <a:rPr lang="en-US" sz="1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Lowest Performing City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3281" y="4399136"/>
            <a:ext cx="238578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Nagpur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817" y="1260500"/>
            <a:ext cx="5165154" cy="287595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461817" y="4245769"/>
            <a:ext cx="562235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04217"/>
            <a:ext cx="486690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Impact &amp; 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184746"/>
            <a:ext cx="2607915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3000+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6707" y="1818010"/>
            <a:ext cx="175118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Transactions Analyzed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67968" y="1184746"/>
            <a:ext cx="2607990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90863" y="1818010"/>
            <a:ext cx="176219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Integrated Data Tables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7631" y="1184746"/>
            <a:ext cx="2607915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79381" y="1818010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Unified BI Dashboard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8379" y="2327895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Highlights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8379" y="2918520"/>
            <a:ext cx="1888034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1" name="Text 9"/>
          <p:cNvSpPr/>
          <p:nvPr/>
        </p:nvSpPr>
        <p:spPr>
          <a:xfrm>
            <a:off x="488379" y="3026346"/>
            <a:ext cx="1888034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Test-to-production deployment workflow with validated data pipeline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3781" y="2918520"/>
            <a:ext cx="1888034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3" name="Text 11"/>
          <p:cNvSpPr/>
          <p:nvPr/>
        </p:nvSpPr>
        <p:spPr>
          <a:xfrm>
            <a:off x="2513781" y="3026346"/>
            <a:ext cx="1888034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Interactive KPI dashboard with DAX-driven comparative period 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8379" y="4150816"/>
            <a:ext cx="3913436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5" name="Text 13"/>
          <p:cNvSpPr/>
          <p:nvPr/>
        </p:nvSpPr>
        <p:spPr>
          <a:xfrm>
            <a:off x="488379" y="4258642"/>
            <a:ext cx="391343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Sales, profitability &amp; regional insights in a single centralized view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46488" y="2190527"/>
            <a:ext cx="4114354" cy="2548682"/>
          </a:xfrm>
          <a:prstGeom prst="roundRect">
            <a:avLst>
              <a:gd name="adj" fmla="val 821"/>
            </a:avLst>
          </a:prstGeom>
          <a:solidFill>
            <a:srgbClr val="282824"/>
          </a:solidFill>
          <a:ln/>
        </p:spPr>
      </p:sp>
      <p:sp>
        <p:nvSpPr>
          <p:cNvPr id="17" name="Text 15"/>
          <p:cNvSpPr/>
          <p:nvPr/>
        </p:nvSpPr>
        <p:spPr>
          <a:xfrm>
            <a:off x="4786015" y="2327895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86015" y="2683297"/>
            <a:ext cx="383530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dashboard delivers a </a:t>
            </a: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centralized analytics solution</a:t>
            </a:r>
            <a:r>
              <a:rPr lang="en-US" sz="10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that empowers stakeholders to monitor performance, identify growth opportunities, and make confident, data-driven decisions.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86015" y="3758431"/>
            <a:ext cx="3835301" cy="1041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86015" y="3958158"/>
            <a:ext cx="324817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Thank You</a:t>
            </a:r>
            <a:endParaRPr lang="en-US" sz="2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Microsoft Office PowerPoint</Application>
  <PresentationFormat>On-screen Show (16:9)</PresentationFormat>
  <Paragraphs>112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Lato Bold</vt:lpstr>
      <vt:lpstr>Lato Light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Mayank Gupta</cp:lastModifiedBy>
  <cp:revision>2</cp:revision>
  <dcterms:created xsi:type="dcterms:W3CDTF">2026-06-04T10:20:51Z</dcterms:created>
  <dcterms:modified xsi:type="dcterms:W3CDTF">2026-06-04T10:21:46Z</dcterms:modified>
</cp:coreProperties>
</file>